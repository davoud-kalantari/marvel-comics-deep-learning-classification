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54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lavoro confronta diverse architetture deep learning per classificare immagini di fumetti Marvel in base al volume di appartenenza.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Non volevamo solo ottenere accuracy alta, ma capire quali modelli funzionano meglio in un dominio visivo non fotografico.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modello non deve riconoscere solo Spider-Man o Wolverine, ma capire da quale volume proviene l’immagine.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dataset è abbastanza grande, ma complesso perché ogni classe corrisponde a un volume diverso e non a un singolo oggetto.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Lo sbilanciamento è importante: alcune classi hanno molte più immagini di altre, quindi abbiamo testato due strategie diverse.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La pipeline è stata costruita per confrontare modelli e protocolli in modo il più possibile coerente.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subsampling è più controllato ma perde dati; l’upsampling conserva più immagini ma introduce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Abbiamo confrontato sia modelli classici sia modelli moderni, con particolare attenzione a DINOv2.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punto centrale è capire se bastano feature generiche o se serve adattare tutto il modello al dominio comics.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Il messaggio principale è netto: il fine-tuning completo dei modelli pre-addestrati domina le altre strategie.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Nel protocollo bilanciato, DINOv2 Base stacca nettamente tutti gli altri modelli.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Anche sul test set più realistico, DINOv2 Base rimane il miglior modello singolo.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La vicinanza tra accuracy, balanced accuracy e macro F1 indica che il modello lavora bene anche tra classi diverse.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La confusion matrix conferma che gli errori non sono casuali, ma legati a similarità reali tra fumetti.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Molti errori sono comprensibili: alcune immagini sono ambigue anche per un osservatore umano se viste isolate.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Le CNN tendono a guardare dettagli locali; DINOv2 considera meglio layout, personaggi, sfondo e struttura della pagina.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Le visualizzazioni dello spazio delle feature spiegano perché DINOv2 ottiene metriche migliori.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orale: La conclusione è che DINOv2 è il modello singolo più robusto, mentre la late fusion sfrutta complementarità tra CNN e Transformer.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figures/slide_01_pic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37310"/>
            <a:ext cx="5166360" cy="2903220"/>
          </a:xfrm>
          <a:prstGeom prst="rect">
            <a:avLst/>
          </a:prstGeom>
        </p:spPr>
      </p:pic>
      <p:pic>
        <p:nvPicPr>
          <p:cNvPr id="3" name="Image 1" descr="/mnt/data/extracted_figures/slide_01_pic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8" y="502920"/>
            <a:ext cx="2183264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66420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</a:rPr>
              <a:t>CNN vs Transformer-Based Models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94360" y="221284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7285"/>
                </a:solidFill>
              </a:rPr>
              <a:t>for Comic Image Classification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94360" y="2926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Marvel Must Have dataset · 46-class image classification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9436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Davoud Kalantari · Salvatore Nicotra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4360" y="54132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071"/>
                </a:solidFill>
              </a:rPr>
              <a:t>Corso di Laurea Magistrale in Data Science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1/18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Obiettivo del lavoro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Research goal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7F5F8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46085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Classificare automaticamente immagini di fumetti in 46 volumi Marvel Must Have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57200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14213D"/>
                </a:solidFill>
              </a:rPr>
              <a:t>Confrontare CNN e modelli Transformer-based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Valutare scratch, feature extraction e fine-tuning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Studiare subsampling e upsampling per lo sbilanciamento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Analizzare errori, explainability e feature space</a:t>
            </a:r>
            <a:endParaRPr lang="en-US" sz="1900" dirty="0"/>
          </a:p>
        </p:txBody>
      </p:sp>
      <p:pic>
        <p:nvPicPr>
          <p:cNvPr id="9" name="Image 0" descr="/mnt/data/extracted_figures/slide_01_pic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88782"/>
            <a:ext cx="5074920" cy="28518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2/18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i comics sono difficili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Domain shift rispetto alle immagini naturali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9834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14213D"/>
                </a:solidFill>
              </a:rPr>
              <a:t>Lineart, balloon, retini e layout a vignette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Forte variabilità tra autori, epoche e stili editoriali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Personaggi ricorrenti in volumi diversi</a:t>
            </a:r>
            <a:endParaRPr lang="en-US" sz="1900" dirty="0"/>
          </a:p>
          <a:p>
            <a:r>
              <a:rPr lang="en-US" sz="1900" dirty="0">
                <a:solidFill>
                  <a:srgbClr val="14213D"/>
                </a:solidFill>
              </a:rPr>
              <a:t>Informazione discriminante distribuita sull’intera pagina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3970">
            <a:solidFill>
              <a:srgbClr val="F08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41832" y="4828032"/>
            <a:ext cx="43799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Task ≠ riconoscere un personaggio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Task = riconoscere il volume di provenienza</a:t>
            </a:r>
            <a:endParaRPr lang="en-US" sz="1800" dirty="0"/>
          </a:p>
        </p:txBody>
      </p:sp>
      <p:pic>
        <p:nvPicPr>
          <p:cNvPr id="9" name="Image 0" descr="/mnt/data/extracted_figures/slide_20_pi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18" y="1234440"/>
            <a:ext cx="3982843" cy="4754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3/18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Marvel Must Have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Descrizione del dataset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411480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86384" y="14721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7285"/>
                </a:solidFill>
              </a:rPr>
              <a:t>Feature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9504" y="14721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9293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Images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2889504" y="19293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8153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4114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86384" y="23865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Classes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889504" y="23865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46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4114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843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Format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889504" y="2843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PNG RGB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4114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86384" y="33009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Total size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2889504" y="3300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35.53 GB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4114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86384" y="37581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Corrupted images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2889504" y="37581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4023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4213D"/>
                </a:solidFill>
              </a:rPr>
              <a:t>Ogni classe corrisponde a un volume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</a:rPr>
              <a:t>Risoluzioni originali molto variabili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</a:rPr>
              <a:t>Forte eterogeneità di stile, colore e composizione</a:t>
            </a:r>
            <a:endParaRPr lang="en-US" sz="1550" dirty="0"/>
          </a:p>
        </p:txBody>
      </p:sp>
      <p:pic>
        <p:nvPicPr>
          <p:cNvPr id="24" name="Image 0" descr="/mnt/data/extracted_figures/slide_09_pic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47313"/>
            <a:ext cx="6080760" cy="339761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4/18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Distribuzione sbilanciata delle classi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Class imbalance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extracted_figures/slide_09_pic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22269"/>
            <a:ext cx="6446520" cy="36019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874520"/>
            <a:ext cx="374904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598664" y="147218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285"/>
                </a:solidFill>
              </a:rPr>
              <a:t>Metric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838944" y="14721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7285"/>
                </a:solidFill>
              </a:rPr>
              <a:t>Value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98664" y="192938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4213D"/>
                </a:solidFill>
              </a:rPr>
              <a:t>Min images/class</a:t>
            </a:r>
            <a:endParaRPr lang="en-US" sz="1270" dirty="0"/>
          </a:p>
        </p:txBody>
      </p:sp>
      <p:sp>
        <p:nvSpPr>
          <p:cNvPr id="11" name="Text 8"/>
          <p:cNvSpPr/>
          <p:nvPr/>
        </p:nvSpPr>
        <p:spPr>
          <a:xfrm>
            <a:off x="9838944" y="19293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4213D"/>
                </a:solidFill>
              </a:rPr>
              <a:t>52</a:t>
            </a:r>
            <a:endParaRPr lang="en-US" sz="1270" dirty="0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37490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598664" y="238658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4213D"/>
                </a:solidFill>
              </a:rPr>
              <a:t>Max images/class</a:t>
            </a:r>
            <a:endParaRPr lang="en-US" sz="1270" dirty="0"/>
          </a:p>
        </p:txBody>
      </p:sp>
      <p:sp>
        <p:nvSpPr>
          <p:cNvPr id="14" name="Text 11"/>
          <p:cNvSpPr/>
          <p:nvPr/>
        </p:nvSpPr>
        <p:spPr>
          <a:xfrm>
            <a:off x="9838944" y="23865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4213D"/>
                </a:solidFill>
              </a:rPr>
              <a:t>395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7543800" y="2788920"/>
            <a:ext cx="37490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598664" y="284378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4213D"/>
                </a:solidFill>
              </a:rPr>
              <a:t>Mean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9838944" y="28437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4213D"/>
                </a:solidFill>
              </a:rPr>
              <a:t>177.24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>
            <a:off x="7543800" y="3246120"/>
            <a:ext cx="37490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598664" y="330098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4213D"/>
                </a:solidFill>
              </a:rPr>
              <a:t>Max/Min ratio</a:t>
            </a:r>
            <a:endParaRPr lang="en-US" sz="1270" dirty="0"/>
          </a:p>
        </p:txBody>
      </p:sp>
      <p:sp>
        <p:nvSpPr>
          <p:cNvPr id="20" name="Text 17"/>
          <p:cNvSpPr/>
          <p:nvPr/>
        </p:nvSpPr>
        <p:spPr>
          <a:xfrm>
            <a:off x="9838944" y="330098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14213D"/>
                </a:solidFill>
              </a:rPr>
              <a:t>7.60</a:t>
            </a:r>
            <a:endParaRPr lang="en-US" sz="1270" dirty="0"/>
          </a:p>
        </p:txBody>
      </p:sp>
      <p:sp>
        <p:nvSpPr>
          <p:cNvPr id="21" name="Shape 18"/>
          <p:cNvSpPr/>
          <p:nvPr/>
        </p:nvSpPr>
        <p:spPr>
          <a:xfrm>
            <a:off x="7543800" y="406908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 w="13970">
            <a:solidFill>
              <a:srgbClr val="F08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708392" y="4187952"/>
            <a:ext cx="34198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Implica rischio di bias verso classi maggioritarie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5/18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Dal dataset alla valutazione finale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496312" y="2852928"/>
            <a:ext cx="310896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736592" y="2852928"/>
            <a:ext cx="310896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7022592" y="2852928"/>
            <a:ext cx="310896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308592" y="2852928"/>
            <a:ext cx="310896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60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Dataset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8153 immagini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0360" y="21488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60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9008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0088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RGB · 224×224 · normalization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66360" y="21488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60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27608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Balancing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76088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subsampling / upsampling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21488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60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56208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Training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62088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scratch · feature extraction · fine-tuning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38360" y="21488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605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84808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48088" y="281635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metrics · confusion matrix · XAI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71600" y="4709160"/>
            <a:ext cx="9418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</a:rPr>
              <a:t>Stessa pipeline di base per confrontare architetture diverse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Validation e test non aumentati artificialmente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</a:rPr>
              <a:t>Artefatti salvati per analisi quantitative e qualitative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6/18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Subsampling vs Upsampling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Due protocolli per lo sbilanciamento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1996440"/>
            <a:ext cx="106984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86384" y="1517904"/>
            <a:ext cx="190195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0B7285"/>
                </a:solidFill>
              </a:rPr>
              <a:t>Protocollo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2798064" y="1517904"/>
            <a:ext cx="455371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Strategia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7461504" y="1517904"/>
            <a:ext cx="391363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Test set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86384" y="2051304"/>
            <a:ext cx="190195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Subsampling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2798064" y="2051304"/>
            <a:ext cx="455371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52 immagini per classe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7461504" y="2051304"/>
            <a:ext cx="391363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Bilanciato e ridotto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2529840"/>
            <a:ext cx="106984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6384" y="2584704"/>
            <a:ext cx="190195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Upsampling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2798064" y="2584704"/>
            <a:ext cx="455371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Augmentation sulle classi minoritarie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461504" y="2584704"/>
            <a:ext cx="3913632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Distribuzione originale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1051560" y="3840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7F5F8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216152" y="3959352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Subsampling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Scenario controllato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Perde immagini originali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38404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AF8EF"/>
          </a:solidFill>
          <a:ln w="1397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068312" y="3959352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Upsampling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45262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Conserva più dati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Rischio overfitting su augmentation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80760" y="3703320"/>
            <a:ext cx="0" cy="205740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7/18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Architetture confrontate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CNN, Vision Transformer e DINOv2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865376"/>
            <a:ext cx="640080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40664" y="1380744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B7285"/>
                </a:solidFill>
              </a:rPr>
              <a:t>Famiglia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3118104" y="1380744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B7285"/>
                </a:solidFill>
              </a:rPr>
              <a:t>Modelli principali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740664" y="1920240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4213D"/>
                </a:solidFill>
              </a:rPr>
              <a:t>CNN classiche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3118104" y="1920240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4213D"/>
                </a:solidFill>
              </a:rPr>
              <a:t>AlexNet, VGGNet, SqueezeNet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85800" y="2404872"/>
            <a:ext cx="6400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40664" y="2459736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4213D"/>
                </a:solidFill>
              </a:rPr>
              <a:t>CNN moderne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3118104" y="2459736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4213D"/>
                </a:solidFill>
              </a:rPr>
              <a:t>ResNet, MobileNet, EfficientNet, Xception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6400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40664" y="2999232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4213D"/>
                </a:solidFill>
              </a:rPr>
              <a:t>Vision Transformer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118104" y="2999232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4213D"/>
                </a:solidFill>
              </a:rPr>
              <a:t>ViT Tiny, Small, Base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85800" y="3483864"/>
            <a:ext cx="640080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40664" y="3538728"/>
            <a:ext cx="2267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4213D"/>
                </a:solidFill>
              </a:rPr>
              <a:t>Self-supervised Transformer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3118104" y="35387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4213D"/>
                </a:solidFill>
              </a:rPr>
              <a:t>DINOv2 Small, DINOv2 Base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7635240" y="146304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99832" y="158191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Focus dello studio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43800" y="2331720"/>
            <a:ext cx="3749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50" dirty="0">
                <a:solidFill>
                  <a:srgbClr val="14213D"/>
                </a:solidFill>
              </a:rPr>
              <a:t>Confronto locale vs globale</a:t>
            </a:r>
            <a:endParaRPr lang="en-US" sz="1650" dirty="0"/>
          </a:p>
          <a:p>
            <a:r>
              <a:rPr lang="en-US" sz="1650" dirty="0">
                <a:solidFill>
                  <a:srgbClr val="14213D"/>
                </a:solidFill>
              </a:rPr>
              <a:t>Effetto del pre-training</a:t>
            </a:r>
            <a:endParaRPr lang="en-US" sz="1650" dirty="0"/>
          </a:p>
          <a:p>
            <a:r>
              <a:rPr lang="en-US" sz="1650" dirty="0">
                <a:solidFill>
                  <a:srgbClr val="14213D"/>
                </a:solidFill>
              </a:rPr>
              <a:t>Robustezza su immagini non fotorealistiche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8/18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di training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Come sono stati adattati i modelli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68680" y="2045970"/>
            <a:ext cx="557784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23544" y="1563624"/>
            <a:ext cx="194767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0B7285"/>
                </a:solidFill>
              </a:rPr>
              <a:t>Strategy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2980944" y="1563624"/>
            <a:ext cx="341071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Meaning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23544" y="2100834"/>
            <a:ext cx="194767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Scratch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2980944" y="2100834"/>
            <a:ext cx="341071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Training da pesi casuali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868680" y="2583180"/>
            <a:ext cx="55778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23544" y="2638044"/>
            <a:ext cx="194767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Feature extraction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2980944" y="2638044"/>
            <a:ext cx="341071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Backbone congelato + testa addestrata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868680" y="3120390"/>
            <a:ext cx="55778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23544" y="3175254"/>
            <a:ext cx="194767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Fine-tuning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2980944" y="3175254"/>
            <a:ext cx="3410712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Adattamento completo del modello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086600" y="160020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51192" y="1719072"/>
            <a:ext cx="3282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Domanda chiave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468880"/>
            <a:ext cx="36118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</a:rPr>
              <a:t>Bastano feature generiche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</a:rPr>
              <a:t>o serve adattare il backbone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</a:rPr>
              <a:t>al dominio comics?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874520" y="47091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EAF8EF"/>
          </a:solidFill>
          <a:ln w="1397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039112" y="4828032"/>
            <a:ext cx="8083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Risultato: il fine-tuning completo è la strategia dominante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9/18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generale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Fine-tuning domina le altre strategie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397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53619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Scratch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834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Prestazioni più basse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Difficile apprendere da zero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13970">
            <a:solidFill>
              <a:srgbClr val="F08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36592" y="153619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Feature extraction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2834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Miglioramento parziale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Adattamento limitato al dominio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1397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485632" y="153619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Fine-tuning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148840"/>
            <a:ext cx="2834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4213D"/>
                </a:solidFill>
              </a:rPr>
              <a:t>Miglior strategia complessiva</a:t>
            </a:r>
            <a:endParaRPr lang="en-US" sz="1500" dirty="0"/>
          </a:p>
          <a:p>
            <a:r>
              <a:rPr lang="en-US" sz="1500" dirty="0">
                <a:solidFill>
                  <a:srgbClr val="14213D"/>
                </a:solidFill>
              </a:rPr>
              <a:t>DINOv2 migliore adattabilità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629150"/>
            <a:ext cx="74980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386584" y="4306824"/>
            <a:ext cx="464515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0B7285"/>
                </a:solidFill>
              </a:rPr>
              <a:t>Best models in fine-tuning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141464" y="4306824"/>
            <a:ext cx="263347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Accuracy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2386584" y="4684014"/>
            <a:ext cx="464515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DINOv2 Base · Subsampling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7141464" y="4684014"/>
            <a:ext cx="263347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0.9208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2331720" y="5006340"/>
            <a:ext cx="74980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386584" y="5061204"/>
            <a:ext cx="464515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DINOv2 Base · Upsampling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7141464" y="5061204"/>
            <a:ext cx="263347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0.9142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2331720" y="5383530"/>
            <a:ext cx="74980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386584" y="5438394"/>
            <a:ext cx="464515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Late Fusion · Upsampling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7141464" y="5438394"/>
            <a:ext cx="263347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0.9277</a:t>
            </a:r>
            <a:endParaRPr lang="en-US" sz="1340" dirty="0"/>
          </a:p>
        </p:txBody>
      </p:sp>
      <p:sp>
        <p:nvSpPr>
          <p:cNvPr id="27" name="Text 24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10/18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Fine-tuning: protocollo subsampling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Dataset bilanciato e ridotto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929384"/>
            <a:ext cx="65836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40664" y="147218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7285"/>
                </a:solidFill>
              </a:rPr>
              <a:t>Rank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2184" y="1472184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18304" y="14721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98464" y="1472184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Macro F1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" y="19842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1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472184" y="1984248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DINOv2 ViT Base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718304" y="198424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0.9208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998464" y="198424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0.9202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85800" y="2441448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40664" y="249631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2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472184" y="249631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DINOv2 ViT Small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718304" y="24963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0.8417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998464" y="2496312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0.8388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85800" y="2953512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0664" y="300837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3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472184" y="3008376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ViT Base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18304" y="30083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0.7875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998464" y="3008376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0.7801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85800" y="3465576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40664" y="352044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4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472184" y="3520440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EfficientNetB0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4718304" y="352044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0.7833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998464" y="352044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0.7755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795528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A5A"/>
                </a:solidFill>
              </a:rPr>
              <a:t>92.08%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955280" y="18928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Accuracy DINOv2 Base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5528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7285"/>
                </a:solidFill>
              </a:rPr>
              <a:t>+7.9 pp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955280" y="3127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vs DINOv2 Small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425196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AF8EF"/>
          </a:solidFill>
          <a:ln w="1397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708392" y="4370832"/>
            <a:ext cx="31455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DINOv2 Base stacca nettamente le altre architetture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11/18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Fine-tuning: protocollo upsampling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Dataset più ampio e test set realistico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929384"/>
            <a:ext cx="65836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40664" y="147218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7285"/>
                </a:solidFill>
              </a:rPr>
              <a:t>Rank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2184" y="1472184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18304" y="14721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98464" y="1472184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285"/>
                </a:solidFill>
              </a:rPr>
              <a:t>Macro F1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" y="19842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1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472184" y="1984248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DINOv2 ViT Base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718304" y="198424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0.9142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998464" y="198424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0.9104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85800" y="2441448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40664" y="249631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2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472184" y="249631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ViT Base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718304" y="24963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0.9032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998464" y="2496312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0.8962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85800" y="2953512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0664" y="300837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3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472184" y="3008376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DINOv2 ViT Small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18304" y="30083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0.8958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998464" y="3008376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0.8855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85800" y="3465576"/>
            <a:ext cx="65836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40664" y="352044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4213D"/>
                </a:solidFill>
              </a:rPr>
              <a:t>4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472184" y="3520440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ResNet50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4718304" y="352044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0.8848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998464" y="352044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4213D"/>
                </a:solidFill>
              </a:rPr>
              <a:t>0.8755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795528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A5A"/>
                </a:solidFill>
              </a:rPr>
              <a:t>91.42%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955280" y="18928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Best single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5528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7285"/>
                </a:solidFill>
              </a:rPr>
              <a:t>90.32%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955280" y="3127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ViT Base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425196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7F5F8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708392" y="4370832"/>
            <a:ext cx="31455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CNN moderne competitive, ma DINOv2 resta superiore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12/18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single model: DINOv2 ViT Base Patch14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Prestazioni robuste in entrambi i protocolli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6984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86384" y="1472184"/>
            <a:ext cx="2542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7285"/>
                </a:solidFill>
              </a:rPr>
              <a:t>Protocol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438144" y="1472184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7285"/>
                </a:solidFill>
              </a:rPr>
              <a:t>Accuracy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04104" y="1472184"/>
            <a:ext cx="2084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7285"/>
                </a:solidFill>
              </a:rPr>
              <a:t>Balanced Acc.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98664" y="1472184"/>
            <a:ext cx="1764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7285"/>
                </a:solidFill>
              </a:rPr>
              <a:t>Macro F1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473184" y="1472184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7285"/>
                </a:solidFill>
              </a:rPr>
              <a:t>Top-5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86384" y="1975104"/>
            <a:ext cx="2542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14213D"/>
                </a:solidFill>
              </a:rPr>
              <a:t>Subsampling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3438144" y="1975104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0.9208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5404104" y="1975104"/>
            <a:ext cx="2084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0.9196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7598664" y="1975104"/>
            <a:ext cx="1764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0.9202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9473184" y="1975104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0.9833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106984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86384" y="2478024"/>
            <a:ext cx="2542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14213D"/>
                </a:solidFill>
              </a:rPr>
              <a:t>Upsampling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3438144" y="2478024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0.9142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5404104" y="2478024"/>
            <a:ext cx="2084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0.9103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7598664" y="2478024"/>
            <a:ext cx="1764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0.9104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9473184" y="2478024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14213D"/>
                </a:solidFill>
              </a:rPr>
              <a:t>0.9755</a:t>
            </a:r>
            <a:endParaRPr lang="en-US" sz="147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5852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14213D"/>
                </a:solidFill>
              </a:rPr>
              <a:t>Accuracy, balanced accuracy e macro F1 sono molto vicine</a:t>
            </a:r>
            <a:endParaRPr lang="en-US" sz="1750" dirty="0"/>
          </a:p>
          <a:p>
            <a:r>
              <a:rPr lang="en-US" sz="1750" dirty="0">
                <a:solidFill>
                  <a:srgbClr val="14213D"/>
                </a:solidFill>
              </a:rPr>
              <a:t>Il modello non migliora solo sulle classi maggioritarie</a:t>
            </a:r>
            <a:endParaRPr lang="en-US" sz="1750" dirty="0"/>
          </a:p>
          <a:p>
            <a:r>
              <a:rPr lang="en-US" sz="1750" dirty="0">
                <a:solidFill>
                  <a:srgbClr val="14213D"/>
                </a:solidFill>
              </a:rPr>
              <a:t>Il pre-training self-supervised trasferisce bene al dominio comics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680960" y="37033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EAF8EF"/>
          </a:solidFill>
          <a:ln w="1397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845552" y="3822192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DINOv2 Base = miglior modello singolo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13/18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DINOv2 ViT Base nel protocollo upsampling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extracted_figures/slide_18_pi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5" y="1234440"/>
            <a:ext cx="6099790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554480"/>
            <a:ext cx="38404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</a:rPr>
              <a:t>Diagonale principale molto marcata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Errori limitati e concentrati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Confusioni tra volumi visivamente simili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</a:rPr>
              <a:t>Test set più rappresentativo della distribuzione originale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26680" y="45720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3970">
            <a:solidFill>
              <a:srgbClr val="F08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891272" y="4690872"/>
            <a:ext cx="30998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</a:rPr>
              <a:t>Gli errori non sono casuali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14/18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Perché il modello sbaglia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extracted_figures/slide_20_pi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50" y="1234440"/>
            <a:ext cx="402114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1417320"/>
            <a:ext cx="4572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4213D"/>
                </a:solidFill>
              </a:rPr>
              <a:t>Pagine editoriali o promozionali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Stili grafici simili tra volumi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Personaggi Marvel ricorrenti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Alta varianza intra-classe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42976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7F5F8"/>
          </a:solidFill>
          <a:ln w="1397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336792" y="4416552"/>
            <a:ext cx="42428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4213D"/>
                </a:solidFill>
              </a:rPr>
              <a:t>Alcune immagini sono ambigue anche senza contesto narrativo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15/18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Explainability: Grad-CAM vs Attention Rollout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Pattern locali contro contesto globale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EfficientNetB0 · Grad-CAM</a:t>
            </a:r>
            <a:endParaRPr lang="en-US" sz="1350" dirty="0"/>
          </a:p>
        </p:txBody>
      </p:sp>
      <p:pic>
        <p:nvPicPr>
          <p:cNvPr id="7" name="Image 0" descr="/mnt/data/extracted_figures/slide_25_pic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67159"/>
            <a:ext cx="5120640" cy="29464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DINOv2 · Attention Rollout</a:t>
            </a:r>
            <a:endParaRPr lang="en-US" sz="1350" dirty="0"/>
          </a:p>
        </p:txBody>
      </p:sp>
      <p:pic>
        <p:nvPicPr>
          <p:cNvPr id="9" name="Image 1" descr="/mnt/data/extracted_figures/slide_27_pic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712" y="1554480"/>
            <a:ext cx="3738777" cy="2971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0" y="5288280"/>
            <a:ext cx="854964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883664" y="5038344"/>
            <a:ext cx="23591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7285"/>
                </a:solidFill>
              </a:rPr>
              <a:t>Model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352544" y="5038344"/>
            <a:ext cx="272491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285"/>
                </a:solidFill>
              </a:rPr>
              <a:t>Method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87184" y="5038344"/>
            <a:ext cx="313639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285"/>
                </a:solidFill>
              </a:rPr>
              <a:t>Behavior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883664" y="5343144"/>
            <a:ext cx="23591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4213D"/>
                </a:solidFill>
              </a:rPr>
              <a:t>EfficientNetB0</a:t>
            </a:r>
            <a:endParaRPr lang="en-US" sz="1170" dirty="0"/>
          </a:p>
        </p:txBody>
      </p:sp>
      <p:sp>
        <p:nvSpPr>
          <p:cNvPr id="15" name="Text 11"/>
          <p:cNvSpPr/>
          <p:nvPr/>
        </p:nvSpPr>
        <p:spPr>
          <a:xfrm>
            <a:off x="4352544" y="5343144"/>
            <a:ext cx="272491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4213D"/>
                </a:solidFill>
              </a:rPr>
              <a:t>Grad-CAM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7187184" y="5343144"/>
            <a:ext cx="313639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4213D"/>
                </a:solidFill>
              </a:rPr>
              <a:t>Focus locale</a:t>
            </a:r>
            <a:endParaRPr lang="en-US" sz="1170" dirty="0"/>
          </a:p>
        </p:txBody>
      </p:sp>
      <p:sp>
        <p:nvSpPr>
          <p:cNvPr id="17" name="Shape 13"/>
          <p:cNvSpPr/>
          <p:nvPr/>
        </p:nvSpPr>
        <p:spPr>
          <a:xfrm>
            <a:off x="1828800" y="5593080"/>
            <a:ext cx="854964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1883664" y="5647944"/>
            <a:ext cx="235915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4213D"/>
                </a:solidFill>
              </a:rPr>
              <a:t>DINOv2</a:t>
            </a:r>
            <a:endParaRPr lang="en-US" sz="1170" dirty="0"/>
          </a:p>
        </p:txBody>
      </p:sp>
      <p:sp>
        <p:nvSpPr>
          <p:cNvPr id="19" name="Text 15"/>
          <p:cNvSpPr/>
          <p:nvPr/>
        </p:nvSpPr>
        <p:spPr>
          <a:xfrm>
            <a:off x="4352544" y="5647944"/>
            <a:ext cx="272491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4213D"/>
                </a:solidFill>
              </a:rPr>
              <a:t>Attention Rollout</a:t>
            </a:r>
            <a:endParaRPr lang="en-US" sz="1170" dirty="0"/>
          </a:p>
        </p:txBody>
      </p:sp>
      <p:sp>
        <p:nvSpPr>
          <p:cNvPr id="20" name="Text 16"/>
          <p:cNvSpPr/>
          <p:nvPr/>
        </p:nvSpPr>
        <p:spPr>
          <a:xfrm>
            <a:off x="7187184" y="5647944"/>
            <a:ext cx="3136392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4213D"/>
                </a:solidFill>
              </a:rPr>
              <a:t>Focus globale</a:t>
            </a:r>
            <a:endParaRPr lang="en-US" sz="1170" dirty="0"/>
          </a:p>
        </p:txBody>
      </p:sp>
      <p:sp>
        <p:nvSpPr>
          <p:cNvPr id="22" name="Text 1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16/18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UMAP degli embedding prima della classification head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EfficientNetB0</a:t>
            </a:r>
            <a:endParaRPr lang="en-US" sz="1350" dirty="0"/>
          </a:p>
        </p:txBody>
      </p:sp>
      <p:pic>
        <p:nvPicPr>
          <p:cNvPr id="7" name="Image 0" descr="/mnt/data/extracted_figures/slide_31_pi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88" y="1554480"/>
            <a:ext cx="4622824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DINOv2 ViT Base</a:t>
            </a:r>
            <a:endParaRPr lang="en-US" sz="1350" dirty="0"/>
          </a:p>
        </p:txBody>
      </p:sp>
      <p:pic>
        <p:nvPicPr>
          <p:cNvPr id="9" name="Image 1" descr="/mnt/data/extracted_figures/slide_34_pic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677" y="1554480"/>
            <a:ext cx="4620846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5349240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20" dirty="0">
                <a:solidFill>
                  <a:srgbClr val="14213D"/>
                </a:solidFill>
              </a:rPr>
              <a:t>EfficientNetB0: maggiore sovrapposizione tra classi</a:t>
            </a:r>
            <a:endParaRPr lang="en-US" sz="1520" dirty="0"/>
          </a:p>
          <a:p>
            <a:r>
              <a:rPr lang="en-US" sz="1520" dirty="0">
                <a:solidFill>
                  <a:srgbClr val="14213D"/>
                </a:solidFill>
              </a:rPr>
              <a:t>DINOv2: cluster più compatti e separati</a:t>
            </a:r>
            <a:endParaRPr lang="en-US" sz="1520" dirty="0"/>
          </a:p>
          <a:p>
            <a:r>
              <a:rPr lang="en-US" sz="1520" dirty="0">
                <a:solidFill>
                  <a:srgbClr val="14213D"/>
                </a:solidFill>
              </a:rPr>
              <a:t>Errori concentrati ai confini tra cluster</a:t>
            </a:r>
            <a:endParaRPr lang="en-US" sz="1520" dirty="0"/>
          </a:p>
        </p:txBody>
      </p:sp>
      <p:sp>
        <p:nvSpPr>
          <p:cNvPr id="12" name="Text 7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17/18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 Fusion e conclusioni finali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7285"/>
                </a:solidFill>
              </a:rPr>
              <a:t>Miglior risultato assoluto: 92.77%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329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Comic Image Classification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112014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524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86384" y="1380744"/>
            <a:ext cx="2267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0B7285"/>
                </a:solidFill>
              </a:rPr>
              <a:t>Method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163824" y="1380744"/>
            <a:ext cx="6108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Models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81744" y="1380744"/>
            <a:ext cx="1993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7285"/>
                </a:solidFill>
              </a:rPr>
              <a:t>Accuracy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86384" y="1792224"/>
            <a:ext cx="2267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Best single model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3163824" y="1792224"/>
            <a:ext cx="6108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DINOv2 Base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9381744" y="1792224"/>
            <a:ext cx="1993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0.9142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106984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6384" y="2203704"/>
            <a:ext cx="2267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Soft voting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163824" y="2203704"/>
            <a:ext cx="6108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ResNet18 + DINOv2 Small + Base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9381744" y="2203704"/>
            <a:ext cx="1993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0.9203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10698480" cy="0"/>
          </a:xfrm>
          <a:prstGeom prst="line">
            <a:avLst/>
          </a:prstGeom>
          <a:noFill/>
          <a:ln w="571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86384" y="2615184"/>
            <a:ext cx="2267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4213D"/>
                </a:solidFill>
              </a:rPr>
              <a:t>Late fusion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3163824" y="2615184"/>
            <a:ext cx="6108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ResNet18 + DINOv2 Small + Base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9381744" y="2615184"/>
            <a:ext cx="1993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4213D"/>
                </a:solidFill>
              </a:rPr>
              <a:t>0.9277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841248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A5A"/>
                </a:solidFill>
              </a:rPr>
              <a:t>92.77%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12480" y="3813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71"/>
                </a:solidFill>
              </a:rPr>
              <a:t>Best overall accuracy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6629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14213D"/>
                </a:solidFill>
              </a:rPr>
              <a:t>Fine-tuning &gt; feature extraction &gt; scratch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Transformer-based models &gt; CNN nel task principale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DINOv2 Base = miglior modello singolo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</a:rPr>
              <a:t>Late fusion sfrutta complementarità tra CNN e Transformer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018520" y="6473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1"/>
                </a:solidFill>
              </a:rPr>
              <a:t>18/18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D1B7B98-F3FE-EC3F-7FAB-B1FB2D31F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19"/>
            <a:ext cx="12192000" cy="649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0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1284</Words>
  <Application>Microsoft Office PowerPoint</Application>
  <PresentationFormat>Widescreen</PresentationFormat>
  <Paragraphs>332</Paragraphs>
  <Slides>19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Catania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vs Transformer-Based Models for Comic Image Classification</dc:title>
  <dc:subject>Synthetic academic presentation for comic image classification</dc:subject>
  <dc:creator>OpenAI</dc:creator>
  <cp:lastModifiedBy>Salvatore Nicotra</cp:lastModifiedBy>
  <cp:revision>3</cp:revision>
  <dcterms:created xsi:type="dcterms:W3CDTF">2026-06-14T21:51:40Z</dcterms:created>
  <dcterms:modified xsi:type="dcterms:W3CDTF">2026-06-16T21:10:12Z</dcterms:modified>
</cp:coreProperties>
</file>